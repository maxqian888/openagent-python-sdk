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438912"/>
            <a:ext cx="7818120" cy="0"/>
          </a:xfrm>
          <a:prstGeom prst="line">
            <a:avLst/>
          </a:prstGeom>
          <a:noFill/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LAUNCH / PRODUCT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 Code 2.0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Assistant Release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15798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Code 2.0 shifts the assistant from isolated code generation to a capability release that helps product teams understand requests, compose implementation paths, and close the verification loop before handoff.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794760"/>
            <a:ext cx="142646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904488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aware generation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31136" y="3794760"/>
            <a:ext cx="142646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3904488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first loops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03904" y="3794760"/>
            <a:ext cx="142646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3904488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continuity across tasks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06440" y="749808"/>
            <a:ext cx="2697480" cy="3584448"/>
          </a:xfrm>
          <a:prstGeom prst="roundRect">
            <a:avLst>
              <a:gd name="adj" fmla="val 4746"/>
            </a:avLst>
          </a:prstGeom>
          <a:solidFill>
            <a:srgbClr val="0C1E33">
              <a:alpha val="7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71032" y="89611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FOCUS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7103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 release for product teams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71032" y="1463040"/>
            <a:ext cx="2368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Code 2.0 is designed to make internal product delivery feel less like prompt churn and more like a repeatable release surface.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6752" y="2542032"/>
            <a:ext cx="224942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651760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clarity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63056" y="2752344"/>
            <a:ext cx="1956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+41%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16752" y="2944368"/>
            <a:ext cx="224942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3054096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surfacing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63056" y="3154680"/>
            <a:ext cx="1956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16752" y="3346704"/>
            <a:ext cx="224942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3456432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flow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63056" y="3557016"/>
            <a:ext cx="1956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10-step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" y="45902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 in 2.0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release is less about adding isolated tricks and more about changing how the assistant participates in delivery.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901952"/>
            <a:ext cx="7754112" cy="950976"/>
          </a:xfrm>
          <a:prstGeom prst="roundRect">
            <a:avLst>
              <a:gd name="adj" fmla="val 21154"/>
            </a:avLst>
          </a:prstGeom>
          <a:solidFill>
            <a:srgbClr val="0C1E33">
              <a:alpha val="82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10312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 Code 2.0 turns an AI coding assistant into a delivery layer that can frame work, compose the result, and prove it before the team handoff.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76656" y="3154680"/>
            <a:ext cx="2331720" cy="1207008"/>
          </a:xfrm>
          <a:prstGeom prst="roundRect">
            <a:avLst>
              <a:gd name="adj" fmla="val 10606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33009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348386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before patch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386791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release requests into shaped work instead of raw prompt-to-code jumps.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74136" y="3154680"/>
            <a:ext cx="2331720" cy="1207008"/>
          </a:xfrm>
          <a:prstGeom prst="roundRect">
            <a:avLst>
              <a:gd name="adj" fmla="val 10606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38728" y="33009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38728" y="348386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before handoff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38728" y="386791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lint, tests, and build outputs part of the product surface.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71616" y="3154680"/>
            <a:ext cx="2331720" cy="1207008"/>
          </a:xfrm>
          <a:prstGeom prst="roundRect">
            <a:avLst>
              <a:gd name="adj" fmla="val 10606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33009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6208" y="348386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Carry context forward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6208" y="386791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task state, repo conventions, and release intent coherent across the session.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launch story should feel like a product release, not a changelog.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SURFACE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2.0 release is organized around four product surfaces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15361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experiences the internal product team will actually feel in day-to-day use.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694944"/>
            <a:ext cx="1755648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9984" y="80467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scope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729984" y="905256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cores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1938528"/>
            <a:ext cx="3429000" cy="1078992"/>
          </a:xfrm>
          <a:prstGeom prst="roundRect">
            <a:avLst>
              <a:gd name="adj" fmla="val 11864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" y="20848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" y="226771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Spec-to-code orchestration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" y="259689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product asks into files, tasks, code paths, and release-shaped deliverables.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626864" y="1938528"/>
            <a:ext cx="3429000" cy="1078992"/>
          </a:xfrm>
          <a:prstGeom prst="roundRect">
            <a:avLst>
              <a:gd name="adj" fmla="val 11864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91456" y="20848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91456" y="226771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loops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91456" y="259689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focused checks, surface failures early, and keep quality signals visible.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713232" y="3346704"/>
            <a:ext cx="3429000" cy="1078992"/>
          </a:xfrm>
          <a:prstGeom prst="roundRect">
            <a:avLst>
              <a:gd name="adj" fmla="val 11864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" y="349300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7824" y="367588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continuity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7824" y="400507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project truth, current intent, and task-level state without dropping seams.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626864" y="3346704"/>
            <a:ext cx="3429000" cy="1078992"/>
          </a:xfrm>
          <a:prstGeom prst="roundRect">
            <a:avLst>
              <a:gd name="adj" fmla="val 11864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91456" y="349300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1456" y="367588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Team-ready output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91456" y="400507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work as explainable artifacts instead of raw code fragments.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713232" y="459028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here, the deck drills into three release pillars and one team outcome layer.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Spec-to-code orchestration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starts by shaping the work before it starts writing output.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700784"/>
            <a:ext cx="2743200" cy="2615184"/>
          </a:xfrm>
          <a:prstGeom prst="roundRect">
            <a:avLst>
              <a:gd name="adj" fmla="val 489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18470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 gets a path, not just a patch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24140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Code 2.0 frames the request, identifies the output surface, and keeps the final artifact aligned with the release objective.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stay tied to deliverables instead of disappearing into one-off prompt history.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86384" y="4370832"/>
            <a:ext cx="2377440" cy="438912"/>
          </a:xfrm>
          <a:prstGeom prst="roundRect">
            <a:avLst>
              <a:gd name="adj" fmla="val 29167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" y="444398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UNIT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50976" y="4572000"/>
            <a:ext cx="2048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-&gt; plan -&gt; module -&gt; proof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1719072"/>
            <a:ext cx="1920240" cy="950976"/>
          </a:xfrm>
          <a:prstGeom prst="roundRect">
            <a:avLst>
              <a:gd name="adj" fmla="val 13462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59352" y="186537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59352" y="204825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request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59352" y="23774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the product ask, release scope, and success criteria before implementation.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9320" y="1719072"/>
            <a:ext cx="1920240" cy="950976"/>
          </a:xfrm>
          <a:prstGeom prst="roundRect">
            <a:avLst>
              <a:gd name="adj" fmla="val 13462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53912" y="186537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53912" y="204825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 the plan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53912" y="23774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files, slide structure, and execution checkpoints before touching output.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94760" y="2907792"/>
            <a:ext cx="1920240" cy="950976"/>
          </a:xfrm>
          <a:prstGeom prst="roundRect">
            <a:avLst>
              <a:gd name="adj" fmla="val 13462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59352" y="30540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59352" y="323697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 changes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59352" y="356616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content in modules so each deliverable remains inspectable and reusable.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907792"/>
            <a:ext cx="1920240" cy="950976"/>
          </a:xfrm>
          <a:prstGeom prst="roundRect">
            <a:avLst>
              <a:gd name="adj" fmla="val 13462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53912" y="30540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53912" y="323697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the artifact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53912" y="356616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real command path and extract the result back into reviewable text.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2194560"/>
            <a:ext cx="274320" cy="0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670048"/>
            <a:ext cx="0" cy="237744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2670048"/>
            <a:ext cx="0" cy="237744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is part of the product surface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closes the loop by making proof visible before the result leaves the session.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19088" y="749808"/>
            <a:ext cx="170078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859536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surfacing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65392" y="96012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084832"/>
            <a:ext cx="2743200" cy="1828800"/>
          </a:xfrm>
          <a:prstGeom prst="roundRect">
            <a:avLst>
              <a:gd name="adj" fmla="val 7000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223113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EFFECT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41401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signals move earlier in the flow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2798064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waiting for a human to ask for proof, the system treats lint, tests, and build outcomes as part of the default release path.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3749040" y="1719072"/>
            <a:ext cx="4572000" cy="2322576"/>
          </a:xfrm>
          <a:prstGeom prst="roundRect">
            <a:avLst>
              <a:gd name="adj" fmla="val 5512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13632" y="186537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LOOP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13632" y="2212848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 surfaced in the release lane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05072" y="2432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alignment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05072" y="2651760"/>
            <a:ext cx="3246120" cy="182880"/>
          </a:xfrm>
          <a:prstGeom prst="roundRect">
            <a:avLst>
              <a:gd name="adj" fmla="val 40000"/>
            </a:avLst>
          </a:prstGeom>
          <a:solidFill>
            <a:srgbClr val="0C1E33">
              <a:alpha val="94000"/>
            </a:srgbClr>
          </a:solidFill>
          <a:ln w="12700">
            <a:solidFill>
              <a:srgbClr val="DFF7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5072" y="2651760"/>
            <a:ext cx="3246120" cy="182880"/>
          </a:xfrm>
          <a:prstGeom prst="roundRect">
            <a:avLst>
              <a:gd name="adj" fmla="val 40000"/>
            </a:avLst>
          </a:prstGeom>
          <a:solidFill>
            <a:srgbClr val="34C3FF">
              <a:alpha val="92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7496" y="25968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05072" y="29626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tests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05072" y="3182112"/>
            <a:ext cx="3246120" cy="182880"/>
          </a:xfrm>
          <a:prstGeom prst="roundRect">
            <a:avLst>
              <a:gd name="adj" fmla="val 40000"/>
            </a:avLst>
          </a:prstGeom>
          <a:solidFill>
            <a:srgbClr val="0C1E33">
              <a:alpha val="94000"/>
            </a:srgbClr>
          </a:solidFill>
          <a:ln w="12700">
            <a:solidFill>
              <a:srgbClr val="DFF7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5072" y="3182112"/>
            <a:ext cx="3051353" cy="182880"/>
          </a:xfrm>
          <a:prstGeom prst="roundRect">
            <a:avLst>
              <a:gd name="adj" fmla="val 40000"/>
            </a:avLst>
          </a:prstGeom>
          <a:solidFill>
            <a:srgbClr val="5ED4FF">
              <a:alpha val="92000"/>
            </a:srgbClr>
          </a:solidFill>
          <a:ln w="12700">
            <a:solidFill>
              <a:srgbClr val="5ED4FF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7496" y="3127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05072" y="34930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05072" y="3712464"/>
            <a:ext cx="3246120" cy="182880"/>
          </a:xfrm>
          <a:prstGeom prst="roundRect">
            <a:avLst>
              <a:gd name="adj" fmla="val 40000"/>
            </a:avLst>
          </a:prstGeom>
          <a:solidFill>
            <a:srgbClr val="0C1E33">
              <a:alpha val="94000"/>
            </a:srgbClr>
          </a:solidFill>
          <a:ln w="12700">
            <a:solidFill>
              <a:srgbClr val="DFF7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5072" y="3712464"/>
            <a:ext cx="2889047" cy="182880"/>
          </a:xfrm>
          <a:prstGeom prst="roundRect">
            <a:avLst>
              <a:gd name="adj" fmla="val 40000"/>
            </a:avLst>
          </a:prstGeom>
          <a:solidFill>
            <a:srgbClr val="7CE4FF">
              <a:alpha val="92000"/>
            </a:srgbClr>
          </a:solidFill>
          <a:ln w="12700">
            <a:solidFill>
              <a:srgbClr val="7CE4FF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97496" y="36576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05072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is not to run every possible check. The objective is to give the team enough proof to trust the handoff.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continuity across the release thread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improves when the session remembers intent, repo truth, and verification state at the same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1810512"/>
            <a:ext cx="4114800" cy="493776"/>
          </a:xfrm>
          <a:prstGeom prst="roundRect">
            <a:avLst>
              <a:gd name="adj" fmla="val 29630"/>
            </a:avLst>
          </a:prstGeom>
          <a:solidFill>
            <a:srgbClr val="0C1E33">
              <a:alpha val="82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9751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42032" y="1938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team is trying to ship now.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" y="2468880"/>
            <a:ext cx="4114800" cy="493776"/>
          </a:xfrm>
          <a:prstGeom prst="roundRect">
            <a:avLst>
              <a:gd name="adj" fmla="val 29630"/>
            </a:avLst>
          </a:prstGeom>
          <a:solidFill>
            <a:srgbClr val="0C1E33">
              <a:alpha val="74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63347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truth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5968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codebase and current constraints actually allow.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" y="3127248"/>
            <a:ext cx="4114800" cy="493776"/>
          </a:xfrm>
          <a:prstGeom prst="roundRect">
            <a:avLst>
              <a:gd name="adj" fmla="val 29630"/>
            </a:avLst>
          </a:prstGeom>
          <a:solidFill>
            <a:srgbClr val="0C1E33">
              <a:alpha val="6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29184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memory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42032" y="325526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already decided in this release thread.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" y="3785616"/>
            <a:ext cx="4114800" cy="493776"/>
          </a:xfrm>
          <a:prstGeom prst="roundRect">
            <a:avLst>
              <a:gd name="adj" fmla="val 29630"/>
            </a:avLst>
          </a:prstGeom>
          <a:solidFill>
            <a:srgbClr val="0C1E33">
              <a:alpha val="58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95020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state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42032" y="39136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checks passed, failed, or still need proof.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68112" y="1828800"/>
            <a:ext cx="2834640" cy="2670048"/>
          </a:xfrm>
          <a:prstGeom prst="roundRect">
            <a:avLst>
              <a:gd name="adj" fmla="val 5479"/>
            </a:avLst>
          </a:prstGeom>
          <a:solidFill>
            <a:srgbClr val="0C1E33">
              <a:alpha val="72000"/>
            </a:srgbClr>
          </a:solidFill>
          <a:ln w="12700">
            <a:solidFill>
              <a:srgbClr val="DFF7FF">
                <a:alpha val="2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299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EFFECT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50992" y="23042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continuity matters to the product team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50992" y="2761488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Release-quality output depends on more than one prompt.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keeps the session aligned with the active objective, the actual project constraints, and the current proof state so the final artifact stays coherent.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UPGRADE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release path is now visible end to 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operating rhythm the product team is expected to feel in 2.0.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1920240"/>
            <a:ext cx="1389888" cy="1371600"/>
          </a:xfrm>
          <a:prstGeom prst="roundRect">
            <a:avLst>
              <a:gd name="adj" fmla="val 9333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263347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ask or release note arrives.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2103120" y="2615184"/>
            <a:ext cx="256032" cy="0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9152" y="1920240"/>
            <a:ext cx="1389888" cy="1371600"/>
          </a:xfrm>
          <a:prstGeom prst="roundRect">
            <a:avLst>
              <a:gd name="adj" fmla="val 9333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23744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23744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23744" y="263347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target files are locked.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3749040" y="2615184"/>
            <a:ext cx="256032" cy="0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5072" y="1920240"/>
            <a:ext cx="1389888" cy="1371600"/>
          </a:xfrm>
          <a:prstGeom prst="roundRect">
            <a:avLst>
              <a:gd name="adj" fmla="val 9333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69664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9664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69664" y="263347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and code are generated in bounded units.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394960" y="2615184"/>
            <a:ext cx="256032" cy="0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50992" y="1920240"/>
            <a:ext cx="1389888" cy="1371600"/>
          </a:xfrm>
          <a:prstGeom prst="roundRect">
            <a:avLst>
              <a:gd name="adj" fmla="val 9333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15584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15584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15584" y="263347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prove the artifact.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7040880" y="2615184"/>
            <a:ext cx="256032" cy="0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6912" y="1920240"/>
            <a:ext cx="1389888" cy="1371600"/>
          </a:xfrm>
          <a:prstGeom prst="roundRect">
            <a:avLst>
              <a:gd name="adj" fmla="val 9333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61504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61504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 off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61504" y="263347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gets a reviewable, explainable output.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987552" y="3794760"/>
            <a:ext cx="7178040" cy="713232"/>
          </a:xfrm>
          <a:prstGeom prst="roundRect">
            <a:avLst>
              <a:gd name="adj" fmla="val 17949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152144" y="394106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IMPROVES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" y="4069080"/>
            <a:ext cx="6848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 become shaped release work instead of floating prompt fragments.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COMPARISON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1.x vs 2.0: the product-team shift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13898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is not one feature. The difference is the default shape of the 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773936"/>
            <a:ext cx="7726680" cy="457200"/>
          </a:xfrm>
          <a:prstGeom prst="roundRect">
            <a:avLst>
              <a:gd name="adj" fmla="val 16000"/>
            </a:avLst>
          </a:prstGeom>
          <a:solidFill>
            <a:srgbClr val="0C1E33">
              <a:alpha val="78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58568" y="19385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93852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2377440"/>
            <a:ext cx="7726680" cy="438912"/>
          </a:xfrm>
          <a:prstGeom prst="roundRect">
            <a:avLst>
              <a:gd name="adj" fmla="val 16667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50545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58568" y="24963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fragments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7448" y="24963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Release-shaped work units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2889504"/>
            <a:ext cx="7726680" cy="438912"/>
          </a:xfrm>
          <a:prstGeom prst="roundRect">
            <a:avLst>
              <a:gd name="adj" fmla="val 16667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0175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handling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58568" y="30083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to patch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7448" y="300837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to plan to patch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3401568"/>
            <a:ext cx="7726680" cy="438912"/>
          </a:xfrm>
          <a:prstGeom prst="roundRect">
            <a:avLst>
              <a:gd name="adj" fmla="val 16667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5295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proof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58568" y="35204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follow-up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35204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the default flow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3913632"/>
            <a:ext cx="7726680" cy="438912"/>
          </a:xfrm>
          <a:prstGeom prst="roundRect">
            <a:avLst>
              <a:gd name="adj" fmla="val 16667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0416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model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58568" y="40325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Turn-local memory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40325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Thread-level continuity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" y="4425696"/>
            <a:ext cx="7726680" cy="438912"/>
          </a:xfrm>
          <a:prstGeom prst="roundRect">
            <a:avLst>
              <a:gd name="adj" fmla="val 16667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55371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58568" y="45445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Single-user acceleration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7448" y="45445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Product-team delivery surface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BEST-FIT SCENARIOS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Nova Code 2.0 creates the most product-team leverage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release is strongest when the team needs shape, continuity, and proof in the same thread.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1847088"/>
            <a:ext cx="3401568" cy="1115568"/>
          </a:xfrm>
          <a:prstGeom prst="roundRect">
            <a:avLst>
              <a:gd name="adj" fmla="val 1147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19933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21762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feature build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25603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the team needs plan, implementation, and validation in one release thread.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626864" y="1847088"/>
            <a:ext cx="3401568" cy="1115568"/>
          </a:xfrm>
          <a:prstGeom prst="roundRect">
            <a:avLst>
              <a:gd name="adj" fmla="val 1147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91456" y="19933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91456" y="21762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repair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91456" y="25603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fast root-cause isolation must be paired with proof before re-ship.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13232" y="3200400"/>
            <a:ext cx="3401568" cy="1115568"/>
          </a:xfrm>
          <a:prstGeom prst="roundRect">
            <a:avLst>
              <a:gd name="adj" fmla="val 1147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" y="334670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7824" y="352958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Multi-file refactor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7824" y="391363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scope crosses components, config, and verification surfaces.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626864" y="3200400"/>
            <a:ext cx="3401568" cy="1115568"/>
          </a:xfrm>
          <a:prstGeom prst="roundRect">
            <a:avLst>
              <a:gd name="adj" fmla="val 1147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91456" y="334670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91456" y="352958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Pre-release confidence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91456" y="391363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the team needs a last-mile quality pass before handoff or demo.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13232" y="4498848"/>
            <a:ext cx="7635240" cy="402336"/>
          </a:xfrm>
          <a:prstGeom prst="roundRect">
            <a:avLst>
              <a:gd name="adj" fmla="val 31818"/>
            </a:avLst>
          </a:prstGeom>
          <a:solidFill>
            <a:srgbClr val="0C1E33">
              <a:alpha val="72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77824" y="4572000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7824" y="4681728"/>
            <a:ext cx="7306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 is not trying to replace judgment. It is trying to make product delivery easier to shape and easier to trust.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438912"/>
            <a:ext cx="7818120" cy="0"/>
          </a:xfrm>
          <a:prstGeom prst="line">
            <a:avLst/>
          </a:prstGeom>
          <a:noFill/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 Code 2.0 is a capability release for shipping teams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135331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is not just faster generation. The value is a better path from request to trusted output.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847088"/>
            <a:ext cx="2240280" cy="1325880"/>
          </a:xfrm>
          <a:prstGeom prst="roundRect">
            <a:avLst>
              <a:gd name="adj" fmla="val 965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" y="19933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speed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" y="217627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3.2x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77824" y="2651760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build proof move earlier in the loop.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64992" y="1847088"/>
            <a:ext cx="2240280" cy="1325880"/>
          </a:xfrm>
          <a:prstGeom prst="roundRect">
            <a:avLst>
              <a:gd name="adj" fmla="val 965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9584" y="19933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loss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9584" y="217627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-34%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29584" y="2651760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stays explainable for reviewers and adjacent teammates.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16752" y="1847088"/>
            <a:ext cx="2240280" cy="1325880"/>
          </a:xfrm>
          <a:prstGeom prst="roundRect">
            <a:avLst>
              <a:gd name="adj" fmla="val 965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81344" y="19933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clarity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81344" y="217627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+41%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81344" y="2651760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 holds onto scope and deliverable structure more reliably.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3511296"/>
            <a:ext cx="7635240" cy="1225296"/>
          </a:xfrm>
          <a:prstGeom prst="roundRect">
            <a:avLst>
              <a:gd name="adj" fmla="val 10448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" y="365760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" y="3840480"/>
            <a:ext cx="7306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rollout path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" y="4078224"/>
            <a:ext cx="7306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Pilot Nova Code 2.0 on one complex sprint item.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Track verification time saved against the 1.x workflow.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Promote the release flow into the default internal playbook.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skills-test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Code 2.0 - AI Coding Assistant Release</dc:title>
  <dc:subject>Nova Code 2.0 launch deck</dc:subject>
  <dc:creator>Codex</dc:creator>
  <cp:lastModifiedBy>Codex</cp:lastModifiedBy>
  <cp:revision>1</cp:revision>
  <dcterms:created xsi:type="dcterms:W3CDTF">2026-04-13T01:45:39Z</dcterms:created>
  <dcterms:modified xsi:type="dcterms:W3CDTF">2026-04-13T01:45:39Z</dcterms:modified>
</cp:coreProperties>
</file>
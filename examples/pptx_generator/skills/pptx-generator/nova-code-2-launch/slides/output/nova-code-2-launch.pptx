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438912"/>
            <a:ext cx="7818120" cy="0"/>
          </a:xfrm>
          <a:prstGeom prst="line">
            <a:avLst/>
          </a:prstGeom>
          <a:noFill/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LAUNCH / PRODUCT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Code 2.0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Assistant Release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1579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Code 2.0 shifts the assistant from isolated code generation to a capability release that helps product teams understand requests, compose implementation paths, and close the verification loop before handoff.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794760"/>
            <a:ext cx="142646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904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aware generation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31136" y="3794760"/>
            <a:ext cx="142646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904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first loops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03904" y="3794760"/>
            <a:ext cx="142646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3904488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continuity across tasks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06440" y="749808"/>
            <a:ext cx="2697480" cy="3584448"/>
          </a:xfrm>
          <a:prstGeom prst="roundRect">
            <a:avLst>
              <a:gd name="adj" fmla="val 4746"/>
            </a:avLst>
          </a:prstGeom>
          <a:solidFill>
            <a:srgbClr val="0C1E33">
              <a:alpha val="7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71032" y="8961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FOCUS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7103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release for product teams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71032" y="1463040"/>
            <a:ext cx="2368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Code 2.0 is designed to make internal product delivery feel less like prompt churn and more like a repeatable release surface.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2542032"/>
            <a:ext cx="224942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651760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clarity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63056" y="2752344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+41%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16752" y="2944368"/>
            <a:ext cx="224942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054096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surfacing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63056" y="3154680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16752" y="3346704"/>
            <a:ext cx="224942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345643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flow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63056" y="3557016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10-step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" y="45902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 in 2.0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release is less about adding isolated tricks and more about changing how the assistant participates in delivery.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7754112" cy="950976"/>
          </a:xfrm>
          <a:prstGeom prst="roundRect">
            <a:avLst>
              <a:gd name="adj" fmla="val 21154"/>
            </a:avLst>
          </a:prstGeom>
          <a:solidFill>
            <a:srgbClr val="0C1E33">
              <a:alpha val="82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10312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Code 2.0 turns an AI coding assistant into a delivery layer that can frame work, compose the result, and prove it before the team handoff.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76656" y="3154680"/>
            <a:ext cx="2331720" cy="1207008"/>
          </a:xfrm>
          <a:prstGeom prst="roundRect">
            <a:avLst>
              <a:gd name="adj" fmla="val 1060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before patch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8679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release requests into shaped work instead of raw prompt-to-code jumps.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74136" y="3154680"/>
            <a:ext cx="2331720" cy="1207008"/>
          </a:xfrm>
          <a:prstGeom prst="roundRect">
            <a:avLst>
              <a:gd name="adj" fmla="val 1060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38728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38728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before handoff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38728" y="38679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lint, tests, and build outputs part of the product surface.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3154680"/>
            <a:ext cx="2331720" cy="1207008"/>
          </a:xfrm>
          <a:prstGeom prst="roundRect">
            <a:avLst>
              <a:gd name="adj" fmla="val 1060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Carry context forward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6208" y="38679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task state, repo conventions, and release intent coherent across the session.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story should feel like a product release, not a changelog.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SURFACE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2.0 release is organized around four product surfaces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15361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experiences the internal product team will actually feel in day-to-day use.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694944"/>
            <a:ext cx="1755648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80467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scope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29984" y="905256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1938528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20848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22677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Spec-to-code orchestration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25968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product asks into files, tasks, code paths, and release-shaped deliverables.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626864" y="1938528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91456" y="20848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1456" y="22677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loops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91456" y="259689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focused checks, surface failures early, and keep quality signals visible.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13232" y="3346704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349300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" y="367588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continuity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" y="40050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project truth, current intent, and task-level state without dropping seams.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626864" y="3346704"/>
            <a:ext cx="3429000" cy="1078992"/>
          </a:xfrm>
          <a:prstGeom prst="roundRect">
            <a:avLst>
              <a:gd name="adj" fmla="val 11864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91456" y="349300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367588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Team-ready output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91456" y="400507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work as explainable artifacts instead of raw code fragments.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713232" y="459028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here, the deck drills into three release pillars and one team outcome layer.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Spec-to-code orchestration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starts by shaping the work before it starts writing output.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700784"/>
            <a:ext cx="2743200" cy="2615184"/>
          </a:xfrm>
          <a:prstGeom prst="roundRect">
            <a:avLst>
              <a:gd name="adj" fmla="val 489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847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 gets a path, not just a patch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24140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Code 2.0 frames the request, identifies the output surface, and keeps the final artifact aligned with the release objective.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stay tied to deliverables instead of disappearing into one-off prompt history.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86384" y="4443984"/>
            <a:ext cx="2377440" cy="310896"/>
          </a:xfrm>
          <a:prstGeom prst="roundRect">
            <a:avLst>
              <a:gd name="adj" fmla="val 41176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" y="45902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UNIT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451713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-&gt; plan -&gt; module -&gt; proof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171907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9352" y="1865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59352" y="20482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request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9352" y="2377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the product ask, release scope, and success criteria before implementation.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171907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53912" y="1865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53912" y="204825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 the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53912" y="2377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files, slide structure, and execution checkpoints before touching output.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94760" y="290779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59352" y="30540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59352" y="323697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 changes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59352" y="356616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content in modules so each deliverable remains inspectable and reusable.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907792"/>
            <a:ext cx="1920240" cy="950976"/>
          </a:xfrm>
          <a:prstGeom prst="roundRect">
            <a:avLst>
              <a:gd name="adj" fmla="val 13462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30540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53912" y="323697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the artifact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53912" y="356616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real command path and extract the result back into reviewable text.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2194560"/>
            <a:ext cx="274320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70048"/>
            <a:ext cx="0" cy="237744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2670048"/>
            <a:ext cx="0" cy="237744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is part of the product surface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closes the loop by making proof visible before the result leaves the session.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19088" y="749808"/>
            <a:ext cx="1700784" cy="457200"/>
          </a:xfrm>
          <a:prstGeom prst="roundRect">
            <a:avLst>
              <a:gd name="adj" fmla="val 36000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859536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surfacing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65392" y="96012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084832"/>
            <a:ext cx="2743200" cy="1828800"/>
          </a:xfrm>
          <a:prstGeom prst="roundRect">
            <a:avLst>
              <a:gd name="adj" fmla="val 7000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2311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EFFECT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4140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signals move earlier in the 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waiting for a human to ask for proof, the system treats lint, tests, and build outcomes as part of the default release path.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3749040" y="1719072"/>
            <a:ext cx="4572000" cy="2322576"/>
          </a:xfrm>
          <a:prstGeom prst="roundRect">
            <a:avLst>
              <a:gd name="adj" fmla="val 5512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3632" y="1865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LOOP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13632" y="2212848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 surfaced in the release lane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05072" y="2432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alignment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05072" y="2651760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0C1E33">
              <a:alpha val="94000"/>
            </a:srgbClr>
          </a:solidFill>
          <a:ln w="12700">
            <a:solidFill>
              <a:srgbClr val="DFF7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2651760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34C3FF">
              <a:alpha val="92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7496" y="2596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05072" y="2962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5072" y="3182112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0C1E33">
              <a:alpha val="94000"/>
            </a:srgbClr>
          </a:solidFill>
          <a:ln w="12700">
            <a:solidFill>
              <a:srgbClr val="DFF7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5072" y="3182112"/>
            <a:ext cx="3051353" cy="182880"/>
          </a:xfrm>
          <a:prstGeom prst="roundRect">
            <a:avLst>
              <a:gd name="adj" fmla="val 40000"/>
            </a:avLst>
          </a:prstGeom>
          <a:solidFill>
            <a:srgbClr val="5ED4FF">
              <a:alpha val="92000"/>
            </a:srgbClr>
          </a:solidFill>
          <a:ln w="12700">
            <a:solidFill>
              <a:srgbClr val="5ED4FF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3127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05072" y="3493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05072" y="3712464"/>
            <a:ext cx="3246120" cy="182880"/>
          </a:xfrm>
          <a:prstGeom prst="roundRect">
            <a:avLst>
              <a:gd name="adj" fmla="val 40000"/>
            </a:avLst>
          </a:prstGeom>
          <a:solidFill>
            <a:srgbClr val="0C1E33">
              <a:alpha val="94000"/>
            </a:srgbClr>
          </a:solidFill>
          <a:ln w="12700">
            <a:solidFill>
              <a:srgbClr val="DFF7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5072" y="3712464"/>
            <a:ext cx="2889047" cy="182880"/>
          </a:xfrm>
          <a:prstGeom prst="roundRect">
            <a:avLst>
              <a:gd name="adj" fmla="val 40000"/>
            </a:avLst>
          </a:prstGeom>
          <a:solidFill>
            <a:srgbClr val="7CE4FF">
              <a:alpha val="92000"/>
            </a:srgbClr>
          </a:solidFill>
          <a:ln w="12700">
            <a:solidFill>
              <a:srgbClr val="7CE4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7496" y="36576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05072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not to run every possible check. The objective is to give the team enough proof to trust the handoff.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continuity across the release thread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improves when the session remembers intent, repo truth, and verification state at the same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810512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82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751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1938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is trying to ship now.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" y="2468880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74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334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truth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5968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codebase and current constraints actually allow.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" y="3127248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66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918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42032" y="32552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already decided in this release thread.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" y="3785616"/>
            <a:ext cx="4114800" cy="493776"/>
          </a:xfrm>
          <a:prstGeom prst="roundRect">
            <a:avLst>
              <a:gd name="adj" fmla="val 29630"/>
            </a:avLst>
          </a:prstGeom>
          <a:solidFill>
            <a:srgbClr val="0C1E33">
              <a:alpha val="58000"/>
            </a:srgbClr>
          </a:solidFill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9502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state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42032" y="3913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checks passed, failed, or still need proof.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68112" y="1828800"/>
            <a:ext cx="2834640" cy="2670048"/>
          </a:xfrm>
          <a:prstGeom prst="roundRect">
            <a:avLst>
              <a:gd name="adj" fmla="val 5479"/>
            </a:avLst>
          </a:prstGeom>
          <a:solidFill>
            <a:srgbClr val="0C1E33">
              <a:alpha val="72000"/>
            </a:srgbClr>
          </a:solidFill>
          <a:ln w="12700">
            <a:solidFill>
              <a:srgbClr val="DFF7FF">
                <a:alpha val="2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0299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EFFECT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50992" y="2304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continuity matters to the product team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50992" y="2761488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Release-quality output depends on more than one prompt.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keeps the session aligned with the active objective, the actual project constraints, and the current proof state so the final artifact stays coherent.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UPGRADE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release path is now visible end to 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operating rhythm the product team is expected to feel in 2.0.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ask or release note arrives.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210312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2374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2374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2374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target files are locked.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74904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507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966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966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966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and code are generated in bounded units.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39496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5099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1558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1558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1558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prove the artifact.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040880" y="2615184"/>
            <a:ext cx="256032" cy="0"/>
          </a:xfrm>
          <a:prstGeom prst="line">
            <a:avLst/>
          </a:prstGeom>
          <a:noFill/>
          <a:ln w="19050">
            <a:solidFill>
              <a:srgbClr val="34C3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1920240"/>
            <a:ext cx="1389888" cy="1371600"/>
          </a:xfrm>
          <a:prstGeom prst="roundRect">
            <a:avLst>
              <a:gd name="adj" fmla="val 9333"/>
            </a:avLst>
          </a:prstGeom>
          <a:solidFill>
            <a:srgbClr val="0C1E33">
              <a:alpha val="68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61504" y="20665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61504" y="224942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 off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61504" y="263347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gets a reviewable, explainable output.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987552" y="3794760"/>
            <a:ext cx="7178040" cy="713232"/>
          </a:xfrm>
          <a:prstGeom prst="roundRect">
            <a:avLst>
              <a:gd name="adj" fmla="val 17949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52144" y="39410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IMPROVES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" y="4069080"/>
            <a:ext cx="6848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 become shaped release work instead of floating prompt fragments.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1.x vs 2.0: the product-team shift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not one feature. The difference is the default shape of the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773936"/>
            <a:ext cx="7726680" cy="457200"/>
          </a:xfrm>
          <a:prstGeom prst="roundRect">
            <a:avLst>
              <a:gd name="adj" fmla="val 16000"/>
            </a:avLst>
          </a:prstGeom>
          <a:solidFill>
            <a:srgbClr val="0C1E33">
              <a:alpha val="78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58568" y="1938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9385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2377440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505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58568" y="2496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fragments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4963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Release-shaped work units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889504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175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handling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58568" y="30083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to patch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300837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to plan to patch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401568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5295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proof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58568" y="3520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follow-up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35204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default flow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3913632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0416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model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58568" y="40325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Turn-local memory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40325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Thread-level continuity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4425696"/>
            <a:ext cx="7726680" cy="438912"/>
          </a:xfrm>
          <a:prstGeom prst="roundRect">
            <a:avLst>
              <a:gd name="adj" fmla="val 16667"/>
            </a:avLst>
          </a:prstGeom>
          <a:solidFill>
            <a:srgbClr val="0C1E33">
              <a:alpha val="76000"/>
            </a:srgbClr>
          </a:solidFill>
          <a:ln w="12700">
            <a:solidFill>
              <a:srgbClr val="DFF7FF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55371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58568" y="45445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Single-user acceleration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4544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Product-team delivery surface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BEST-FIT SCENARIOS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Nova Code 2.0 creates the most product-team leverage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release is strongest when the team needs shape, continuity, and proof in the same thread.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feature 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25603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the team needs plan, implementation, and validation in one release thread.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626864" y="1847088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91456" y="21762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repair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91456" y="25603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fast root-cause isolation must be paired with proof before re-ship.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3232" y="3200400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334670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35295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Multi-file refactor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" y="39136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scope crosses components, config, and verification surfaces.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626864" y="3200400"/>
            <a:ext cx="3401568" cy="1115568"/>
          </a:xfrm>
          <a:prstGeom prst="roundRect">
            <a:avLst>
              <a:gd name="adj" fmla="val 1147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91456" y="334670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1456" y="35295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Pre-release confidence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91456" y="39136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the team needs a last-mile quality pass before handoff or demo.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13232" y="4572000"/>
            <a:ext cx="7635240" cy="310896"/>
          </a:xfrm>
          <a:prstGeom prst="roundRect">
            <a:avLst>
              <a:gd name="adj" fmla="val 41176"/>
            </a:avLst>
          </a:prstGeom>
          <a:solidFill>
            <a:srgbClr val="0C1E33">
              <a:alpha val="72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" y="471830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7824" y="4672584"/>
            <a:ext cx="7306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 is not trying to replace judgment. It is trying to make product delivery easier to shape and easier to trust.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E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389120" cy="2834640"/>
          </a:xfrm>
          <a:prstGeom prst="ellipse">
            <a:avLst/>
          </a:prstGeom>
          <a:solidFill>
            <a:srgbClr val="34C3FF">
              <a:alpha val="28000"/>
            </a:srgbClr>
          </a:solidFill>
          <a:ln w="12700">
            <a:solidFill>
              <a:srgbClr val="34C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-640080"/>
            <a:ext cx="3108960" cy="2194560"/>
          </a:xfrm>
          <a:prstGeom prst="ellipse">
            <a:avLst/>
          </a:prstGeom>
          <a:solidFill>
            <a:srgbClr val="DFF7FF">
              <a:alpha val="9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337560"/>
            <a:ext cx="3840480" cy="2377440"/>
          </a:xfrm>
          <a:prstGeom prst="ellipse">
            <a:avLst/>
          </a:prstGeom>
          <a:solidFill>
            <a:srgbClr val="174A7A">
              <a:alpha val="20000"/>
            </a:srgbClr>
          </a:solidFill>
          <a:ln w="12700">
            <a:solidFill>
              <a:srgbClr val="174A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438912"/>
            <a:ext cx="7818120" cy="0"/>
          </a:xfrm>
          <a:prstGeom prst="line">
            <a:avLst/>
          </a:prstGeom>
          <a:noFill/>
          <a:ln w="12700">
            <a:solidFill>
              <a:srgbClr val="DFF7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4389120"/>
            <a:ext cx="1280160" cy="201168"/>
          </a:xfrm>
          <a:prstGeom prst="roundRect">
            <a:avLst>
              <a:gd name="adj" fmla="val 36364"/>
            </a:avLst>
          </a:prstGeom>
          <a:solidFill>
            <a:srgbClr val="34C3FF">
              <a:alpha val="88000"/>
            </a:srgbClr>
          </a:solidFill>
          <a:ln w="12700">
            <a:solidFill>
              <a:srgbClr val="34C3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120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713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Code 2.0 is a capability release for shipping teams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3533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is not just faster generation. The value is a better path from request to trusted output.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847088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speed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21762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7824" y="26517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build proof move earlier in the 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1847088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958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loss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9584" y="21762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29584" y="26517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stays explainable for reviewers and adjacent teammates.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16752" y="1847088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19933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clarity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81344" y="217627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+41%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81344" y="26517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holds onto scope and deliverable structure more reliably.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3511296"/>
            <a:ext cx="7635240" cy="1133856"/>
          </a:xfrm>
          <a:prstGeom prst="roundRect">
            <a:avLst>
              <a:gd name="adj" fmla="val 11290"/>
            </a:avLst>
          </a:prstGeom>
          <a:solidFill>
            <a:srgbClr val="0C1E33">
              <a:alpha val="64000"/>
            </a:srgbClr>
          </a:solidFill>
          <a:ln w="12700">
            <a:solidFill>
              <a:srgbClr val="DFF7FF">
                <a:alpha val="24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" y="365760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3840480"/>
            <a:ext cx="7306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F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rollout 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4041648"/>
            <a:ext cx="7306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Pilot Nova Code 2.0 on one complex sprint item.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Track verification time saved against the 1.x workflow.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F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Promote the release flow into the default internal playbook.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302752" y="4617720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34C3FF">
              <a:alpha val="94000"/>
            </a:srgbClr>
          </a:solidFill>
          <a:ln w="12700">
            <a:solidFill>
              <a:srgbClr val="34C3FF">
                <a:alpha val="7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46177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skills-test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Code 2.0 - AI Coding Assistant Release</dc:title>
  <dc:subject>Nova Code 2.0 launch deck</dc:subject>
  <dc:creator>Codex</dc:creator>
  <cp:lastModifiedBy>Codex</cp:lastModifiedBy>
  <cp:revision>1</cp:revision>
  <dcterms:created xsi:type="dcterms:W3CDTF">2026-04-13T01:27:50Z</dcterms:created>
  <dcterms:modified xsi:type="dcterms:W3CDTF">2026-04-13T01:27:50Z</dcterms:modified>
</cp:coreProperties>
</file>